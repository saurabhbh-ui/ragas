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70" d="100"/>
          <a:sy n="70" d="100"/>
        </p:scale>
        <p:origin x="1524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7FDE3-4B29-8ECC-D4D4-AED416614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36291-23C3-29BA-10C3-800A90E14E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ED006-02F9-8278-4674-1DCDBA091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07E6C-ECC5-FF28-8185-3CDE5E57A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D16BA-613B-13CF-AD14-727B4C701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6327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FBA04-002C-018B-69C1-A818567C5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FFF3E-4D09-FC82-E2E6-BC828F54B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C734B-5915-E773-ABF0-51DFA30F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F7DF1-20D5-5ECC-9D8B-D4F4D38E5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34906-6DE2-EB8B-E7FF-E6078A0B3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30952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BBA3F-AE49-3135-A3AC-A39AFB661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B9FAD-82E5-CA0B-55AB-C81D77B4F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CFEF0-CD2E-6C41-578C-2DF92E48B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2577-97D3-6A92-AFF5-21A1103A4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D07AC-F985-5AAD-A0F7-AC78A16FA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68980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2FA96-41AE-50E1-DADF-D585DDF4E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61AD7-1D53-7EFF-612F-B0F00D9E6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ED90A-48E8-F026-FF2C-82475AD84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4CE238-5FA3-EC5C-38A1-E8C901A6F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DCD5F-937C-B1E2-ED91-1FDADC5C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DC434-CCF1-B7F2-D4E1-7827F7A0B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87294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A8EC8-AE78-0B12-B5DD-86A79CEA3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2B25F-BC3E-50A5-B15A-04F82A517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37B91-4F09-723A-01AB-93CEDE11F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F2E58B-DA50-B896-A56F-7DCAB31D0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68B6A-CF7E-9A65-AC44-571D049BC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58C931-C178-5920-7066-73653FA9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F6114-454A-1158-5846-02E7D92C2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FA1DDE-5378-6867-6ABF-5C4B6D045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73567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680CE-CC48-527A-009E-6F6964BE1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5FB2AD-E794-1B0C-8619-844D7386E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817C10-5536-5AD2-8C2A-5496AF49B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6762E0-2A5F-6817-F4F7-E8F0BD7D5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87038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A685E8-85AE-5A3D-6C93-1EA55679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0446EF-BCE1-C610-D531-98AD0C421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1E427-FCDC-ACB1-6A5B-5E2A8D2F4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1044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EDF61-3DB7-D0FC-8390-C8C3606C6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0C6F7-352E-060B-27CC-86FD4DB37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0979A-4040-99DE-775B-4DADE7873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4D708-D7A4-04B4-16D4-29ACDBFD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F620E-CFCB-57BD-6F4A-8938B8B2D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5C935-7F8F-F76E-A006-3DD84B299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992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A62A2-BDD9-F059-E9E7-2E5B6ACB4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08B000-9E8C-7472-C24F-1F292B8F6F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0D6A1-A046-DD2A-F4E2-C03E20824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F36F3-474C-BDC6-9F1E-DC6C0AFB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AD33A-31BF-C399-155B-34AD66FAB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96FED-2FE4-19BB-E8A5-9528CD9B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7962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D2B3A-2151-245F-BEA2-40368FD81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9C789-E7D9-62D8-6E54-012D3C9DF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F56EE-87A3-5BE4-0C60-A69A52A31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85771-8A86-4246-AEEE-B604862E6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69B22-417A-1652-AF37-A8C5B4AE5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43076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C932E6-AD43-8047-CD94-6F913AB79C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4A8C50-673F-8B0C-6391-59DE93F06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32791-05AD-6873-ADAC-BD2013C5D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FD1B8-A97C-DD1F-B27E-B6548CCB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DF001-7CF0-FD29-7F1C-9BCB2CE5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54244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4BC0FB-AAC0-4733-AB7E-FD257599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6A0C6-2FAB-EF80-6563-E0229D8D8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B82BE-AFA9-75B0-19AA-7D6DFC2306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AF67CF-11FA-4151-B315-DC1A26189260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32077-F12A-2379-0587-8E965FFE7B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CB98B-DB0B-B555-1271-E98B6BD10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A8E426-959D-4998-A568-BEA7D7DC89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88804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0B066-3A6E-176C-028C-6EB3955797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32E2C-0CED-46AD-4B88-20867FF05A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63610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">
            <a:extLst>
              <a:ext uri="{FF2B5EF4-FFF2-40B4-BE49-F238E27FC236}">
                <a16:creationId xmlns:a16="http://schemas.microsoft.com/office/drawing/2014/main" id="{B6097FE1-D98D-CAB5-FE7F-9AF6C8C3D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954" y="666608"/>
            <a:ext cx="6636091" cy="552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66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B91A87-7BB1-5747-9B7F-4064CB895C53}"/>
              </a:ext>
            </a:extLst>
          </p:cNvPr>
          <p:cNvSpPr txBox="1"/>
          <p:nvPr/>
        </p:nvSpPr>
        <p:spPr>
          <a:xfrm>
            <a:off x="420624" y="551289"/>
            <a:ext cx="10872216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600" b="1" dirty="0"/>
              <a:t># STEP 1: Prepare 20 positions for questions</a:t>
            </a:r>
          </a:p>
          <a:p>
            <a:r>
              <a:rPr lang="en-DE" sz="1600" dirty="0"/>
              <a:t>positions = [0, 1, 2, 3, 4, 5, 6, 7, 8, 9, 10, 11, 12, 13, 14, 15, 16, 17, 18, 19]</a:t>
            </a:r>
          </a:p>
          <a:p>
            <a:endParaRPr lang="en-DE" sz="1600" dirty="0"/>
          </a:p>
          <a:p>
            <a:r>
              <a:rPr lang="en-DE" sz="1600" b="1" dirty="0"/>
              <a:t># STEP 2: Randomly decide which positions are multi-turn (BEFORE generating)</a:t>
            </a:r>
          </a:p>
          <a:p>
            <a:r>
              <a:rPr lang="en-DE" sz="1600" dirty="0" err="1"/>
              <a:t>multi_turn_ratio</a:t>
            </a:r>
            <a:r>
              <a:rPr lang="en-DE" sz="1600" dirty="0"/>
              <a:t> = 0.40  # 40%</a:t>
            </a:r>
          </a:p>
          <a:p>
            <a:r>
              <a:rPr lang="en-DE" sz="1600" dirty="0" err="1"/>
              <a:t>n_multiturn</a:t>
            </a:r>
            <a:r>
              <a:rPr lang="en-DE" sz="1600" dirty="0"/>
              <a:t> = int(20 * 0.40)  # = 8 positions</a:t>
            </a:r>
          </a:p>
          <a:p>
            <a:endParaRPr lang="en-DE" sz="1600" dirty="0"/>
          </a:p>
          <a:p>
            <a:r>
              <a:rPr lang="en-DE" sz="1600" dirty="0"/>
              <a:t># Randomly pick 8 positions</a:t>
            </a:r>
          </a:p>
          <a:p>
            <a:r>
              <a:rPr lang="en-DE" sz="1600" dirty="0" err="1"/>
              <a:t>multiturn_indices</a:t>
            </a:r>
            <a:r>
              <a:rPr lang="en-DE" sz="1600" dirty="0"/>
              <a:t> = </a:t>
            </a:r>
            <a:r>
              <a:rPr lang="en-DE" sz="1600" dirty="0" err="1"/>
              <a:t>np.random.choice</a:t>
            </a:r>
            <a:r>
              <a:rPr lang="en-DE" sz="1600" dirty="0"/>
              <a:t>(20, 8, replace=False)</a:t>
            </a:r>
          </a:p>
          <a:p>
            <a:r>
              <a:rPr lang="en-DE" sz="1600" dirty="0"/>
              <a:t># Result: [2, 5, 7, 9, 12, 15, 17, 19]  ← These will be multi-turn</a:t>
            </a:r>
          </a:p>
          <a:p>
            <a:endParaRPr lang="en-DE" sz="1600" dirty="0"/>
          </a:p>
          <a:p>
            <a:r>
              <a:rPr lang="en-DE" sz="1600" b="1" dirty="0"/>
              <a:t># STEP 3: Generate questions</a:t>
            </a:r>
          </a:p>
          <a:p>
            <a:r>
              <a:rPr lang="en-DE" sz="1600" dirty="0"/>
              <a:t>for </a:t>
            </a:r>
            <a:r>
              <a:rPr lang="en-DE" sz="1600" dirty="0" err="1"/>
              <a:t>idx</a:t>
            </a:r>
            <a:r>
              <a:rPr lang="en-DE" sz="1600" dirty="0"/>
              <a:t> in range(20):</a:t>
            </a:r>
          </a:p>
          <a:p>
            <a:r>
              <a:rPr lang="en-DE" sz="1600" dirty="0"/>
              <a:t>    # Generate initial question using LLM</a:t>
            </a:r>
          </a:p>
          <a:p>
            <a:r>
              <a:rPr lang="en-DE" sz="1600" dirty="0"/>
              <a:t>    question = </a:t>
            </a:r>
            <a:r>
              <a:rPr lang="en-DE" sz="1600" dirty="0" err="1"/>
              <a:t>llm.generate</a:t>
            </a:r>
            <a:r>
              <a:rPr lang="en-DE" sz="1600" dirty="0"/>
              <a:t>(chunk, type)  # ← LLM generates the</a:t>
            </a:r>
            <a:r>
              <a:rPr lang="en-US" sz="1600" dirty="0"/>
              <a:t> </a:t>
            </a:r>
            <a:r>
              <a:rPr lang="en-DE" sz="1600" dirty="0"/>
              <a:t>question</a:t>
            </a:r>
          </a:p>
          <a:p>
            <a:r>
              <a:rPr lang="en-DE" sz="1600" dirty="0"/>
              <a:t>    </a:t>
            </a:r>
          </a:p>
          <a:p>
            <a:r>
              <a:rPr lang="en-DE" sz="1600" dirty="0"/>
              <a:t>    # Mark it based on our pre-decided list</a:t>
            </a:r>
          </a:p>
          <a:p>
            <a:r>
              <a:rPr lang="en-DE" sz="1600" dirty="0"/>
              <a:t>    if </a:t>
            </a:r>
            <a:r>
              <a:rPr lang="en-DE" sz="1600" dirty="0" err="1"/>
              <a:t>idx</a:t>
            </a:r>
            <a:r>
              <a:rPr lang="en-DE" sz="1600" dirty="0"/>
              <a:t> in </a:t>
            </a:r>
            <a:r>
              <a:rPr lang="en-DE" sz="1600" dirty="0" err="1"/>
              <a:t>multiturn_indices</a:t>
            </a:r>
            <a:r>
              <a:rPr lang="en-DE" sz="1600" dirty="0"/>
              <a:t>:  # ← WE decide, not LLM!</a:t>
            </a:r>
          </a:p>
          <a:p>
            <a:r>
              <a:rPr lang="en-DE" sz="1600" dirty="0"/>
              <a:t>        question['</a:t>
            </a:r>
            <a:r>
              <a:rPr lang="en-DE" sz="1600" dirty="0" err="1"/>
              <a:t>conversation_type</a:t>
            </a:r>
            <a:r>
              <a:rPr lang="en-DE" sz="1600" dirty="0"/>
              <a:t>'] = '</a:t>
            </a:r>
            <a:r>
              <a:rPr lang="en-DE" sz="1600" dirty="0" err="1"/>
              <a:t>multi_turn</a:t>
            </a:r>
            <a:r>
              <a:rPr lang="en-DE" sz="1600" dirty="0"/>
              <a:t>'</a:t>
            </a:r>
          </a:p>
          <a:p>
            <a:r>
              <a:rPr lang="en-DE" sz="1600" dirty="0"/>
              <a:t>        # Later, generate follow-ups</a:t>
            </a:r>
          </a:p>
          <a:p>
            <a:r>
              <a:rPr lang="en-DE" sz="1600" dirty="0"/>
              <a:t>    else:</a:t>
            </a:r>
          </a:p>
          <a:p>
            <a:r>
              <a:rPr lang="en-DE" sz="1600" dirty="0"/>
              <a:t>        question['</a:t>
            </a:r>
            <a:r>
              <a:rPr lang="en-DE" sz="1600" dirty="0" err="1"/>
              <a:t>conversation_type</a:t>
            </a:r>
            <a:r>
              <a:rPr lang="en-DE" sz="1600" dirty="0"/>
              <a:t>'] = '</a:t>
            </a:r>
            <a:r>
              <a:rPr lang="en-DE" sz="1600" dirty="0" err="1"/>
              <a:t>single_turn</a:t>
            </a:r>
            <a:r>
              <a:rPr lang="en-DE" sz="1600" dirty="0"/>
              <a:t>'</a:t>
            </a:r>
          </a:p>
          <a:p>
            <a:r>
              <a:rPr lang="en-DE" sz="1600" dirty="0"/>
              <a:t>        # No follow-ups needed</a:t>
            </a:r>
          </a:p>
        </p:txBody>
      </p:sp>
    </p:spTree>
    <p:extLst>
      <p:ext uri="{BB962C8B-B14F-4D97-AF65-F5344CB8AC3E}">
        <p14:creationId xmlns:p14="http://schemas.microsoft.com/office/powerpoint/2010/main" val="424462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screen">
            <a:extLst>
              <a:ext uri="{FF2B5EF4-FFF2-40B4-BE49-F238E27FC236}">
                <a16:creationId xmlns:a16="http://schemas.microsoft.com/office/drawing/2014/main" id="{B53EE88A-5B26-8A2F-2AE3-ACB686600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206" y="3653221"/>
            <a:ext cx="5245370" cy="234962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BC9C4C-DE42-5B70-5B8E-758356181470}"/>
              </a:ext>
            </a:extLst>
          </p:cNvPr>
          <p:cNvCxnSpPr/>
          <p:nvPr/>
        </p:nvCxnSpPr>
        <p:spPr>
          <a:xfrm>
            <a:off x="5824728" y="4974336"/>
            <a:ext cx="5669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screenshot of a computer code">
            <a:extLst>
              <a:ext uri="{FF2B5EF4-FFF2-40B4-BE49-F238E27FC236}">
                <a16:creationId xmlns:a16="http://schemas.microsoft.com/office/drawing/2014/main" id="{C3225808-7ACB-2F65-9B57-85E2BDA12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89" y="3653221"/>
            <a:ext cx="4869559" cy="2610860"/>
          </a:xfrm>
          <a:prstGeom prst="rect">
            <a:avLst/>
          </a:prstGeom>
        </p:spPr>
      </p:pic>
      <p:pic>
        <p:nvPicPr>
          <p:cNvPr id="11" name="Picture 10" descr="A screenshot of a computer program">
            <a:extLst>
              <a:ext uri="{FF2B5EF4-FFF2-40B4-BE49-F238E27FC236}">
                <a16:creationId xmlns:a16="http://schemas.microsoft.com/office/drawing/2014/main" id="{87CA2791-4C37-2C98-AAF4-E11949077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37" y="264578"/>
            <a:ext cx="5073911" cy="294020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EC4FFF-3497-23E1-CC43-6A7DDA8ECE9C}"/>
              </a:ext>
            </a:extLst>
          </p:cNvPr>
          <p:cNvCxnSpPr>
            <a:endCxn id="9" idx="0"/>
          </p:cNvCxnSpPr>
          <p:nvPr/>
        </p:nvCxnSpPr>
        <p:spPr>
          <a:xfrm>
            <a:off x="2978468" y="3291840"/>
            <a:ext cx="1" cy="361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025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3A0A56-D8B7-31E4-BBC7-1D9DFA00D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580" y="2016052"/>
            <a:ext cx="8534839" cy="282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61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54324C-FB84-4492-A327-FCF3AD892182}"/>
              </a:ext>
            </a:extLst>
          </p:cNvPr>
          <p:cNvSpPr txBox="1"/>
          <p:nvPr/>
        </p:nvSpPr>
        <p:spPr>
          <a:xfrm>
            <a:off x="795528" y="905232"/>
            <a:ext cx="10232136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 dirty="0"/>
              <a:t>Turn 1 (Initial):</a:t>
            </a:r>
          </a:p>
          <a:p>
            <a:r>
              <a:rPr lang="en-DE" sz="1400" dirty="0"/>
              <a:t>Q: "What is the escalation procedure for compliance issues?"</a:t>
            </a:r>
          </a:p>
          <a:p>
            <a:r>
              <a:rPr lang="en-DE" sz="1400" dirty="0"/>
              <a:t>A: "Contact the compliance officer within 2 hours of discovery."</a:t>
            </a:r>
          </a:p>
          <a:p>
            <a:endParaRPr lang="en-DE" sz="1400" dirty="0"/>
          </a:p>
          <a:p>
            <a:r>
              <a:rPr lang="en-DE" sz="1400" dirty="0"/>
              <a:t>Turn 2 (Clarification):</a:t>
            </a:r>
          </a:p>
          <a:p>
            <a:r>
              <a:rPr lang="en-DE" sz="1400" dirty="0"/>
              <a:t>Q: "How should I contact the compliance officer - email or phone?"</a:t>
            </a:r>
          </a:p>
          <a:p>
            <a:r>
              <a:rPr lang="en-DE" sz="1400" dirty="0"/>
              <a:t>A: "Phone call first, then email confirmation within 30 minutes."</a:t>
            </a:r>
          </a:p>
          <a:p>
            <a:endParaRPr lang="en-DE" sz="1400" dirty="0"/>
          </a:p>
          <a:p>
            <a:r>
              <a:rPr lang="en-DE" sz="1400" dirty="0"/>
              <a:t>Turn 3 (Edge Case):</a:t>
            </a:r>
          </a:p>
          <a:p>
            <a:r>
              <a:rPr lang="en-DE" sz="1400" dirty="0"/>
              <a:t>Q: "What if the compliance officer is on vacation?"</a:t>
            </a:r>
          </a:p>
          <a:p>
            <a:r>
              <a:rPr lang="en-DE" sz="1400" dirty="0"/>
              <a:t>A: "Contact the backup officer listed in the escalation matrix."</a:t>
            </a:r>
          </a:p>
          <a:p>
            <a:endParaRPr lang="en-DE" sz="1400" dirty="0"/>
          </a:p>
          <a:p>
            <a:r>
              <a:rPr lang="en-DE" sz="1400" dirty="0"/>
              <a:t>Turn 4 (Deeper Detail):</a:t>
            </a:r>
          </a:p>
          <a:p>
            <a:r>
              <a:rPr lang="en-DE" sz="1400" dirty="0"/>
              <a:t>Q: "What specific information must be included in the email confirmation?"</a:t>
            </a:r>
          </a:p>
          <a:p>
            <a:r>
              <a:rPr lang="en-DE" sz="1400" dirty="0"/>
              <a:t>A: "Issue description, discovery time, potential impact, and initial assessment."</a:t>
            </a:r>
          </a:p>
          <a:p>
            <a:endParaRPr lang="en-DE" sz="1400" dirty="0"/>
          </a:p>
          <a:p>
            <a:r>
              <a:rPr lang="en-DE" sz="1400" dirty="0"/>
              <a:t>Turn 5 (Consequence):</a:t>
            </a:r>
          </a:p>
          <a:p>
            <a:r>
              <a:rPr lang="en-DE" sz="1400" dirty="0"/>
              <a:t>Q: "What happens after the compliance officer is notified?"</a:t>
            </a:r>
          </a:p>
          <a:p>
            <a:r>
              <a:rPr lang="en-DE" sz="1400" dirty="0"/>
              <a:t>A: "They will conduct an investigation within 24 hours and provide remediation steps."</a:t>
            </a:r>
          </a:p>
          <a:p>
            <a:endParaRPr lang="en-DE" sz="1400" dirty="0"/>
          </a:p>
          <a:p>
            <a:r>
              <a:rPr lang="en-DE" sz="1400" dirty="0"/>
              <a:t>Turn 6 (Exception):</a:t>
            </a:r>
          </a:p>
          <a:p>
            <a:r>
              <a:rPr lang="en-DE" sz="1400" dirty="0"/>
              <a:t>Q: "Are there any situations where the 2-hour notification requirement doesn't apply?"</a:t>
            </a:r>
          </a:p>
          <a:p>
            <a:r>
              <a:rPr lang="en-DE" sz="1400" dirty="0"/>
              <a:t>A: "Low-severity issues flagged by automated systems can be batched for next-day review."</a:t>
            </a:r>
          </a:p>
        </p:txBody>
      </p:sp>
    </p:spTree>
    <p:extLst>
      <p:ext uri="{BB962C8B-B14F-4D97-AF65-F5344CB8AC3E}">
        <p14:creationId xmlns:p14="http://schemas.microsoft.com/office/powerpoint/2010/main" val="1257675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439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Bhandari</dc:creator>
  <cp:lastModifiedBy>Saurabh Bhandari</cp:lastModifiedBy>
  <cp:revision>1</cp:revision>
  <dcterms:created xsi:type="dcterms:W3CDTF">2026-01-13T11:55:41Z</dcterms:created>
  <dcterms:modified xsi:type="dcterms:W3CDTF">2026-01-13T11:57:59Z</dcterms:modified>
</cp:coreProperties>
</file>